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0058400" cy="7772400"/>
  <p:notesSz cx="6858000" cy="9144000"/>
  <p:embeddedFontLst>
    <p:embeddedFont>
      <p:font typeface="Times New Roman Bold" charset="1" panose="02020803070505020304"/>
      <p:regular r:id="rId12"/>
    </p:embeddedFont>
    <p:embeddedFont>
      <p:font typeface="Times New Roman" charset="1" panose="02020603050405020304"/>
      <p:regular r:id="rId13"/>
    </p:embeddedFont>
    <p:embeddedFont>
      <p:font typeface="Canva Sans Bold" charset="1" panose="020B0803030501040103"/>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4E9"/>
        </a:solidFill>
      </p:bgPr>
    </p:bg>
    <p:spTree>
      <p:nvGrpSpPr>
        <p:cNvPr id="1" name=""/>
        <p:cNvGrpSpPr/>
        <p:nvPr/>
      </p:nvGrpSpPr>
      <p:grpSpPr>
        <a:xfrm>
          <a:off x="0" y="0"/>
          <a:ext cx="0" cy="0"/>
          <a:chOff x="0" y="0"/>
          <a:chExt cx="0" cy="0"/>
        </a:xfrm>
      </p:grpSpPr>
      <p:sp>
        <p:nvSpPr>
          <p:cNvPr name="Freeform 2" id="2"/>
          <p:cNvSpPr/>
          <p:nvPr/>
        </p:nvSpPr>
        <p:spPr>
          <a:xfrm flipH="false" flipV="false" rot="0">
            <a:off x="-251717" y="4921662"/>
            <a:ext cx="4889062" cy="2735838"/>
          </a:xfrm>
          <a:custGeom>
            <a:avLst/>
            <a:gdLst/>
            <a:ahLst/>
            <a:cxnLst/>
            <a:rect r="r" b="b" t="t" l="l"/>
            <a:pathLst>
              <a:path h="2735838" w="4889062">
                <a:moveTo>
                  <a:pt x="0" y="0"/>
                </a:moveTo>
                <a:lnTo>
                  <a:pt x="4889062" y="0"/>
                </a:lnTo>
                <a:lnTo>
                  <a:pt x="4889062" y="2735837"/>
                </a:lnTo>
                <a:lnTo>
                  <a:pt x="0" y="2735837"/>
                </a:lnTo>
                <a:lnTo>
                  <a:pt x="0" y="0"/>
                </a:lnTo>
                <a:close/>
              </a:path>
            </a:pathLst>
          </a:custGeom>
          <a:blipFill>
            <a:blip r:embed="rId2"/>
            <a:stretch>
              <a:fillRect l="0" t="0" r="0" b="0"/>
            </a:stretch>
          </a:blipFill>
        </p:spPr>
      </p:sp>
      <p:sp>
        <p:nvSpPr>
          <p:cNvPr name="Freeform 3" id="3"/>
          <p:cNvSpPr/>
          <p:nvPr/>
        </p:nvSpPr>
        <p:spPr>
          <a:xfrm flipH="true" flipV="true" rot="0">
            <a:off x="5421055" y="114901"/>
            <a:ext cx="4889062" cy="2735838"/>
          </a:xfrm>
          <a:custGeom>
            <a:avLst/>
            <a:gdLst/>
            <a:ahLst/>
            <a:cxnLst/>
            <a:rect r="r" b="b" t="t" l="l"/>
            <a:pathLst>
              <a:path h="2735838" w="4889062">
                <a:moveTo>
                  <a:pt x="4889062" y="2735837"/>
                </a:moveTo>
                <a:lnTo>
                  <a:pt x="0" y="2735837"/>
                </a:lnTo>
                <a:lnTo>
                  <a:pt x="0" y="0"/>
                </a:lnTo>
                <a:lnTo>
                  <a:pt x="4889062" y="0"/>
                </a:lnTo>
                <a:lnTo>
                  <a:pt x="4889062" y="2735837"/>
                </a:lnTo>
                <a:close/>
              </a:path>
            </a:pathLst>
          </a:custGeom>
          <a:blipFill>
            <a:blip r:embed="rId2"/>
            <a:stretch>
              <a:fillRect l="0" t="0" r="0" b="0"/>
            </a:stretch>
          </a:blipFill>
        </p:spPr>
      </p:sp>
      <p:sp>
        <p:nvSpPr>
          <p:cNvPr name="Freeform 4" id="4"/>
          <p:cNvSpPr/>
          <p:nvPr/>
        </p:nvSpPr>
        <p:spPr>
          <a:xfrm flipH="false" flipV="true" rot="0">
            <a:off x="-196541" y="170077"/>
            <a:ext cx="3467507" cy="3467507"/>
          </a:xfrm>
          <a:custGeom>
            <a:avLst/>
            <a:gdLst/>
            <a:ahLst/>
            <a:cxnLst/>
            <a:rect r="r" b="b" t="t" l="l"/>
            <a:pathLst>
              <a:path h="3467507" w="3467507">
                <a:moveTo>
                  <a:pt x="0" y="3467508"/>
                </a:moveTo>
                <a:lnTo>
                  <a:pt x="3467508" y="3467508"/>
                </a:lnTo>
                <a:lnTo>
                  <a:pt x="3467508" y="0"/>
                </a:lnTo>
                <a:lnTo>
                  <a:pt x="0" y="0"/>
                </a:lnTo>
                <a:lnTo>
                  <a:pt x="0" y="346750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6787433" y="4134815"/>
            <a:ext cx="3467507" cy="3467507"/>
          </a:xfrm>
          <a:custGeom>
            <a:avLst/>
            <a:gdLst/>
            <a:ahLst/>
            <a:cxnLst/>
            <a:rect r="r" b="b" t="t" l="l"/>
            <a:pathLst>
              <a:path h="3467507" w="3467507">
                <a:moveTo>
                  <a:pt x="3467508" y="0"/>
                </a:moveTo>
                <a:lnTo>
                  <a:pt x="0" y="0"/>
                </a:lnTo>
                <a:lnTo>
                  <a:pt x="0" y="3467508"/>
                </a:lnTo>
                <a:lnTo>
                  <a:pt x="3467508" y="3467508"/>
                </a:lnTo>
                <a:lnTo>
                  <a:pt x="346750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117263" y="1818106"/>
            <a:ext cx="8163897" cy="1657924"/>
          </a:xfrm>
          <a:prstGeom prst="rect">
            <a:avLst/>
          </a:prstGeom>
        </p:spPr>
        <p:txBody>
          <a:bodyPr anchor="t" rtlCol="false" tIns="0" lIns="0" bIns="0" rIns="0">
            <a:spAutoFit/>
          </a:bodyPr>
          <a:lstStyle/>
          <a:p>
            <a:pPr algn="ctr">
              <a:lnSpc>
                <a:spcPts val="4413"/>
              </a:lnSpc>
            </a:pPr>
            <a:r>
              <a:rPr lang="en-US" b="true" sz="3152" u="sng">
                <a:solidFill>
                  <a:srgbClr val="000000"/>
                </a:solidFill>
                <a:latin typeface="Times New Roman Bold"/>
                <a:ea typeface="Times New Roman Bold"/>
                <a:cs typeface="Times New Roman Bold"/>
                <a:sym typeface="Times New Roman Bold"/>
              </a:rPr>
              <a:t>Financial Inclusion Dashboard</a:t>
            </a:r>
          </a:p>
          <a:p>
            <a:pPr algn="ctr">
              <a:lnSpc>
                <a:spcPts val="2873"/>
              </a:lnSpc>
              <a:spcBef>
                <a:spcPct val="0"/>
              </a:spcBef>
            </a:pPr>
            <a:r>
              <a:rPr lang="en-US" sz="2052">
                <a:solidFill>
                  <a:srgbClr val="000000"/>
                </a:solidFill>
                <a:latin typeface="Times New Roman"/>
                <a:ea typeface="Times New Roman"/>
                <a:cs typeface="Times New Roman"/>
                <a:sym typeface="Times New Roman"/>
              </a:rPr>
              <a:t>Analysis of Bank Acc</a:t>
            </a:r>
            <a:r>
              <a:rPr lang="en-US" sz="2052">
                <a:solidFill>
                  <a:srgbClr val="000000"/>
                </a:solidFill>
                <a:latin typeface="Times New Roman"/>
                <a:ea typeface="Times New Roman"/>
                <a:cs typeface="Times New Roman"/>
                <a:sym typeface="Times New Roman"/>
              </a:rPr>
              <a:t>ount Ownership Across East Africa</a:t>
            </a:r>
          </a:p>
          <a:p>
            <a:pPr algn="ctr">
              <a:lnSpc>
                <a:spcPts val="2873"/>
              </a:lnSpc>
              <a:spcBef>
                <a:spcPct val="0"/>
              </a:spcBef>
            </a:pPr>
          </a:p>
          <a:p>
            <a:pPr algn="ctr">
              <a:lnSpc>
                <a:spcPts val="2873"/>
              </a:lnSpc>
              <a:spcBef>
                <a:spcPct val="0"/>
              </a:spcBef>
            </a:pPr>
          </a:p>
        </p:txBody>
      </p:sp>
      <p:sp>
        <p:nvSpPr>
          <p:cNvPr name="TextBox 7" id="7"/>
          <p:cNvSpPr txBox="true"/>
          <p:nvPr/>
        </p:nvSpPr>
        <p:spPr>
          <a:xfrm rot="0">
            <a:off x="1021294" y="3719734"/>
            <a:ext cx="2249427" cy="773012"/>
          </a:xfrm>
          <a:prstGeom prst="rect">
            <a:avLst/>
          </a:prstGeom>
        </p:spPr>
        <p:txBody>
          <a:bodyPr anchor="t" rtlCol="false" tIns="0" lIns="0" bIns="0" rIns="0">
            <a:spAutoFit/>
          </a:bodyPr>
          <a:lstStyle/>
          <a:p>
            <a:pPr algn="ctr">
              <a:lnSpc>
                <a:spcPts val="3259"/>
              </a:lnSpc>
              <a:spcBef>
                <a:spcPct val="0"/>
              </a:spcBef>
            </a:pPr>
            <a:r>
              <a:rPr lang="en-US" b="true" sz="2328">
                <a:solidFill>
                  <a:srgbClr val="000000"/>
                </a:solidFill>
                <a:latin typeface="Times New Roman Bold"/>
                <a:ea typeface="Times New Roman Bold"/>
                <a:cs typeface="Times New Roman Bold"/>
                <a:sym typeface="Times New Roman Bold"/>
              </a:rPr>
              <a:t>S</a:t>
            </a:r>
            <a:r>
              <a:rPr lang="en-US" b="true" sz="2328">
                <a:solidFill>
                  <a:srgbClr val="000000"/>
                </a:solidFill>
                <a:latin typeface="Times New Roman Bold"/>
                <a:ea typeface="Times New Roman Bold"/>
                <a:cs typeface="Times New Roman Bold"/>
                <a:sym typeface="Times New Roman Bold"/>
              </a:rPr>
              <a:t>ubmitted By:</a:t>
            </a:r>
          </a:p>
          <a:p>
            <a:pPr algn="ctr">
              <a:lnSpc>
                <a:spcPts val="2876"/>
              </a:lnSpc>
              <a:spcBef>
                <a:spcPct val="0"/>
              </a:spcBef>
            </a:pPr>
            <a:r>
              <a:rPr lang="en-US" sz="2054">
                <a:solidFill>
                  <a:srgbClr val="000000"/>
                </a:solidFill>
                <a:latin typeface="Times New Roman"/>
                <a:ea typeface="Times New Roman"/>
                <a:cs typeface="Times New Roman"/>
                <a:sym typeface="Times New Roman"/>
              </a:rPr>
              <a:t>Suraj Nayak</a:t>
            </a:r>
          </a:p>
        </p:txBody>
      </p:sp>
      <p:sp>
        <p:nvSpPr>
          <p:cNvPr name="TextBox 8" id="8"/>
          <p:cNvSpPr txBox="true"/>
          <p:nvPr/>
        </p:nvSpPr>
        <p:spPr>
          <a:xfrm rot="0">
            <a:off x="5582231" y="3719734"/>
            <a:ext cx="4101514" cy="1906524"/>
          </a:xfrm>
          <a:prstGeom prst="rect">
            <a:avLst/>
          </a:prstGeom>
        </p:spPr>
        <p:txBody>
          <a:bodyPr anchor="t" rtlCol="false" tIns="0" lIns="0" bIns="0" rIns="0">
            <a:spAutoFit/>
          </a:bodyPr>
          <a:lstStyle/>
          <a:p>
            <a:pPr algn="ctr">
              <a:lnSpc>
                <a:spcPts val="3262"/>
              </a:lnSpc>
              <a:spcBef>
                <a:spcPct val="0"/>
              </a:spcBef>
            </a:pPr>
            <a:r>
              <a:rPr lang="en-US" b="true" sz="2330">
                <a:solidFill>
                  <a:srgbClr val="000000"/>
                </a:solidFill>
                <a:latin typeface="Times New Roman Bold"/>
                <a:ea typeface="Times New Roman Bold"/>
                <a:cs typeface="Times New Roman Bold"/>
                <a:sym typeface="Times New Roman Bold"/>
              </a:rPr>
              <a:t>To</a:t>
            </a:r>
            <a:r>
              <a:rPr lang="en-US" b="true" sz="2330">
                <a:solidFill>
                  <a:srgbClr val="000000"/>
                </a:solidFill>
                <a:latin typeface="Times New Roman Bold"/>
                <a:ea typeface="Times New Roman Bold"/>
                <a:cs typeface="Times New Roman Bold"/>
                <a:sym typeface="Times New Roman Bold"/>
              </a:rPr>
              <a:t>ols Used:</a:t>
            </a:r>
          </a:p>
          <a:p>
            <a:pPr algn="ctr">
              <a:lnSpc>
                <a:spcPts val="2869"/>
              </a:lnSpc>
              <a:spcBef>
                <a:spcPct val="0"/>
              </a:spcBef>
            </a:pPr>
            <a:r>
              <a:rPr lang="en-US" sz="2049">
                <a:solidFill>
                  <a:srgbClr val="000000"/>
                </a:solidFill>
                <a:latin typeface="Times New Roman"/>
                <a:ea typeface="Times New Roman"/>
                <a:cs typeface="Times New Roman"/>
                <a:sym typeface="Times New Roman"/>
              </a:rPr>
              <a:t>Power BI, Canva</a:t>
            </a:r>
          </a:p>
          <a:p>
            <a:pPr algn="ctr">
              <a:lnSpc>
                <a:spcPts val="3262"/>
              </a:lnSpc>
              <a:spcBef>
                <a:spcPct val="0"/>
              </a:spcBef>
            </a:pPr>
            <a:r>
              <a:rPr lang="en-US" b="true" sz="2330">
                <a:solidFill>
                  <a:srgbClr val="000000"/>
                </a:solidFill>
                <a:latin typeface="Times New Roman Bold"/>
                <a:ea typeface="Times New Roman Bold"/>
                <a:cs typeface="Times New Roman Bold"/>
                <a:sym typeface="Times New Roman Bold"/>
              </a:rPr>
              <a:t>Dataset:</a:t>
            </a:r>
          </a:p>
          <a:p>
            <a:pPr algn="ctr">
              <a:lnSpc>
                <a:spcPts val="2869"/>
              </a:lnSpc>
              <a:spcBef>
                <a:spcPct val="0"/>
              </a:spcBef>
            </a:pPr>
            <a:r>
              <a:rPr lang="en-US" sz="2049">
                <a:solidFill>
                  <a:srgbClr val="000000"/>
                </a:solidFill>
                <a:latin typeface="Times New Roman"/>
                <a:ea typeface="Times New Roman"/>
                <a:cs typeface="Times New Roman"/>
                <a:sym typeface="Times New Roman"/>
              </a:rPr>
              <a:t>Financial Inclusion in Africa Dataset</a:t>
            </a:r>
          </a:p>
          <a:p>
            <a:pPr algn="ctr">
              <a:lnSpc>
                <a:spcPts val="286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4E9"/>
        </a:solidFill>
      </p:bgPr>
    </p:bg>
    <p:spTree>
      <p:nvGrpSpPr>
        <p:cNvPr id="1" name=""/>
        <p:cNvGrpSpPr/>
        <p:nvPr/>
      </p:nvGrpSpPr>
      <p:grpSpPr>
        <a:xfrm>
          <a:off x="0" y="0"/>
          <a:ext cx="0" cy="0"/>
          <a:chOff x="0" y="0"/>
          <a:chExt cx="0" cy="0"/>
        </a:xfrm>
      </p:grpSpPr>
      <p:sp>
        <p:nvSpPr>
          <p:cNvPr name="Freeform 2" id="2"/>
          <p:cNvSpPr/>
          <p:nvPr/>
        </p:nvSpPr>
        <p:spPr>
          <a:xfrm flipH="false" flipV="false" rot="0">
            <a:off x="-251717" y="4921662"/>
            <a:ext cx="4889062" cy="2735838"/>
          </a:xfrm>
          <a:custGeom>
            <a:avLst/>
            <a:gdLst/>
            <a:ahLst/>
            <a:cxnLst/>
            <a:rect r="r" b="b" t="t" l="l"/>
            <a:pathLst>
              <a:path h="2735838" w="4889062">
                <a:moveTo>
                  <a:pt x="0" y="0"/>
                </a:moveTo>
                <a:lnTo>
                  <a:pt x="4889062" y="0"/>
                </a:lnTo>
                <a:lnTo>
                  <a:pt x="4889062" y="2735837"/>
                </a:lnTo>
                <a:lnTo>
                  <a:pt x="0" y="2735837"/>
                </a:lnTo>
                <a:lnTo>
                  <a:pt x="0" y="0"/>
                </a:lnTo>
                <a:close/>
              </a:path>
            </a:pathLst>
          </a:custGeom>
          <a:blipFill>
            <a:blip r:embed="rId2">
              <a:alphaModFix amt="40000"/>
            </a:blip>
            <a:stretch>
              <a:fillRect l="0" t="0" r="0" b="0"/>
            </a:stretch>
          </a:blipFill>
        </p:spPr>
      </p:sp>
      <p:sp>
        <p:nvSpPr>
          <p:cNvPr name="Freeform 3" id="3"/>
          <p:cNvSpPr/>
          <p:nvPr/>
        </p:nvSpPr>
        <p:spPr>
          <a:xfrm flipH="true" flipV="true" rot="0">
            <a:off x="5421055" y="114901"/>
            <a:ext cx="4889062" cy="2735838"/>
          </a:xfrm>
          <a:custGeom>
            <a:avLst/>
            <a:gdLst/>
            <a:ahLst/>
            <a:cxnLst/>
            <a:rect r="r" b="b" t="t" l="l"/>
            <a:pathLst>
              <a:path h="2735838" w="4889062">
                <a:moveTo>
                  <a:pt x="4889062" y="2735837"/>
                </a:moveTo>
                <a:lnTo>
                  <a:pt x="0" y="2735837"/>
                </a:lnTo>
                <a:lnTo>
                  <a:pt x="0" y="0"/>
                </a:lnTo>
                <a:lnTo>
                  <a:pt x="4889062" y="0"/>
                </a:lnTo>
                <a:lnTo>
                  <a:pt x="4889062" y="2735837"/>
                </a:lnTo>
                <a:close/>
              </a:path>
            </a:pathLst>
          </a:custGeom>
          <a:blipFill>
            <a:blip r:embed="rId2">
              <a:alphaModFix amt="47000"/>
            </a:blip>
            <a:stretch>
              <a:fillRect l="0" t="0" r="0" b="0"/>
            </a:stretch>
          </a:blipFill>
        </p:spPr>
      </p:sp>
      <p:sp>
        <p:nvSpPr>
          <p:cNvPr name="Freeform 4" id="4"/>
          <p:cNvSpPr/>
          <p:nvPr/>
        </p:nvSpPr>
        <p:spPr>
          <a:xfrm flipH="false" flipV="true" rot="0">
            <a:off x="-196541" y="170077"/>
            <a:ext cx="3467507" cy="3467507"/>
          </a:xfrm>
          <a:custGeom>
            <a:avLst/>
            <a:gdLst/>
            <a:ahLst/>
            <a:cxnLst/>
            <a:rect r="r" b="b" t="t" l="l"/>
            <a:pathLst>
              <a:path h="3467507" w="3467507">
                <a:moveTo>
                  <a:pt x="0" y="3467508"/>
                </a:moveTo>
                <a:lnTo>
                  <a:pt x="3467508" y="3467508"/>
                </a:lnTo>
                <a:lnTo>
                  <a:pt x="3467508" y="0"/>
                </a:lnTo>
                <a:lnTo>
                  <a:pt x="0" y="0"/>
                </a:lnTo>
                <a:lnTo>
                  <a:pt x="0" y="3467508"/>
                </a:lnTo>
                <a:close/>
              </a:path>
            </a:pathLst>
          </a:custGeom>
          <a:blipFill>
            <a:blip r:embed="rId3">
              <a:alphaModFix amt="17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6787433" y="4134815"/>
            <a:ext cx="3467507" cy="3467507"/>
          </a:xfrm>
          <a:custGeom>
            <a:avLst/>
            <a:gdLst/>
            <a:ahLst/>
            <a:cxnLst/>
            <a:rect r="r" b="b" t="t" l="l"/>
            <a:pathLst>
              <a:path h="3467507" w="3467507">
                <a:moveTo>
                  <a:pt x="3467508" y="0"/>
                </a:moveTo>
                <a:lnTo>
                  <a:pt x="0" y="0"/>
                </a:lnTo>
                <a:lnTo>
                  <a:pt x="0" y="3467508"/>
                </a:lnTo>
                <a:lnTo>
                  <a:pt x="3467508" y="3467508"/>
                </a:lnTo>
                <a:lnTo>
                  <a:pt x="346750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301443" y="419420"/>
            <a:ext cx="9455514" cy="6866885"/>
          </a:xfrm>
          <a:prstGeom prst="rect">
            <a:avLst/>
          </a:prstGeom>
        </p:spPr>
        <p:txBody>
          <a:bodyPr anchor="t" rtlCol="false" tIns="0" lIns="0" bIns="0" rIns="0">
            <a:spAutoFit/>
          </a:bodyPr>
          <a:lstStyle/>
          <a:p>
            <a:pPr algn="ctr">
              <a:lnSpc>
                <a:spcPts val="3640"/>
              </a:lnSpc>
            </a:pPr>
            <a:r>
              <a:rPr lang="en-US" b="true" sz="2600" u="sng">
                <a:solidFill>
                  <a:srgbClr val="000000"/>
                </a:solidFill>
                <a:latin typeface="Times New Roman Bold"/>
                <a:ea typeface="Times New Roman Bold"/>
                <a:cs typeface="Times New Roman Bold"/>
                <a:sym typeface="Times New Roman Bold"/>
              </a:rPr>
              <a:t>Project Overview</a:t>
            </a:r>
          </a:p>
          <a:p>
            <a:pPr algn="l">
              <a:lnSpc>
                <a:spcPts val="2520"/>
              </a:lnSpc>
            </a:pPr>
            <a:r>
              <a:rPr lang="en-US" sz="1800" u="sng" b="true">
                <a:solidFill>
                  <a:srgbClr val="000000"/>
                </a:solidFill>
                <a:latin typeface="Times New Roman Bold"/>
                <a:ea typeface="Times New Roman Bold"/>
                <a:cs typeface="Times New Roman Bold"/>
                <a:sym typeface="Times New Roman Bold"/>
              </a:rPr>
              <a:t>Objective</a:t>
            </a:r>
          </a:p>
          <a:p>
            <a:pPr algn="just">
              <a:lnSpc>
                <a:spcPts val="2520"/>
              </a:lnSpc>
            </a:pPr>
            <a:r>
              <a:rPr lang="en-US" sz="1800">
                <a:solidFill>
                  <a:srgbClr val="000000"/>
                </a:solidFill>
                <a:latin typeface="Times New Roman"/>
                <a:ea typeface="Times New Roman"/>
                <a:cs typeface="Times New Roman"/>
                <a:sym typeface="Times New Roman"/>
              </a:rPr>
              <a:t>The objective of this project is to analyze financial inclusion and understand the factors influencing     bank account ownership across East African c</a:t>
            </a:r>
            <a:r>
              <a:rPr lang="en-US" sz="1800">
                <a:solidFill>
                  <a:srgbClr val="000000"/>
                </a:solidFill>
                <a:latin typeface="Times New Roman"/>
                <a:ea typeface="Times New Roman"/>
                <a:cs typeface="Times New Roman"/>
                <a:sym typeface="Times New Roman"/>
              </a:rPr>
              <a:t>ountries. </a:t>
            </a:r>
          </a:p>
          <a:p>
            <a:pPr algn="just">
              <a:lnSpc>
                <a:spcPts val="2520"/>
              </a:lnSpc>
            </a:pPr>
            <a:r>
              <a:rPr lang="en-US" sz="1800">
                <a:solidFill>
                  <a:srgbClr val="000000"/>
                </a:solidFill>
                <a:latin typeface="Times New Roman"/>
                <a:ea typeface="Times New Roman"/>
                <a:cs typeface="Times New Roman"/>
                <a:sym typeface="Times New Roman"/>
              </a:rPr>
              <a:t>The dashboard provides valuable insights into demographic, educational, and geographical patterns associated with financial access.</a:t>
            </a:r>
          </a:p>
          <a:p>
            <a:pPr algn="just" marL="388648" indent="-194324" lvl="1">
              <a:lnSpc>
                <a:spcPts val="2520"/>
              </a:lnSpc>
              <a:buFont typeface="Arial"/>
              <a:buChar char="•"/>
            </a:pPr>
            <a:r>
              <a:rPr lang="en-US" sz="1800">
                <a:solidFill>
                  <a:srgbClr val="000000"/>
                </a:solidFill>
                <a:latin typeface="Times New Roman"/>
                <a:ea typeface="Times New Roman"/>
                <a:cs typeface="Times New Roman"/>
                <a:sym typeface="Times New Roman"/>
              </a:rPr>
              <a:t>Dataset Information</a:t>
            </a:r>
          </a:p>
          <a:p>
            <a:pPr algn="just" marL="388648" indent="-194324" lvl="1">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Dataset Name: Financial Inclusion in Africa</a:t>
            </a:r>
          </a:p>
          <a:p>
            <a:pPr algn="just" marL="388648" indent="-194324" lvl="1">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Total Respondents: 23,524</a:t>
            </a:r>
          </a:p>
          <a:p>
            <a:pPr algn="just" marL="388648" indent="-194324" lvl="1">
              <a:lnSpc>
                <a:spcPts val="2520"/>
              </a:lnSpc>
              <a:spcBef>
                <a:spcPct val="0"/>
              </a:spcBef>
              <a:buFont typeface="Arial"/>
              <a:buChar char="•"/>
            </a:pPr>
            <a:r>
              <a:rPr lang="en-US" b="true" sz="1800">
                <a:solidFill>
                  <a:srgbClr val="000000"/>
                </a:solidFill>
                <a:latin typeface="Times New Roman Bold"/>
                <a:ea typeface="Times New Roman Bold"/>
                <a:cs typeface="Times New Roman Bold"/>
                <a:sym typeface="Times New Roman Bold"/>
              </a:rPr>
              <a:t>Countries Covered:</a:t>
            </a:r>
          </a:p>
          <a:p>
            <a:pPr algn="just" marL="777295" indent="-259098" lvl="2">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Kenya</a:t>
            </a:r>
          </a:p>
          <a:p>
            <a:pPr algn="just" marL="777295" indent="-259098" lvl="2">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Rwanda</a:t>
            </a:r>
          </a:p>
          <a:p>
            <a:pPr algn="just" marL="777295" indent="-259098" lvl="2">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Tanzania</a:t>
            </a:r>
          </a:p>
          <a:p>
            <a:pPr algn="just" marL="777295" indent="-259098" lvl="2">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Uganda</a:t>
            </a:r>
          </a:p>
          <a:p>
            <a:pPr algn="just" marL="388648" indent="-194324" lvl="1">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Tool Used: Power BI</a:t>
            </a:r>
          </a:p>
          <a:p>
            <a:pPr algn="just">
              <a:lnSpc>
                <a:spcPts val="2520"/>
              </a:lnSpc>
              <a:spcBef>
                <a:spcPct val="0"/>
              </a:spcBef>
            </a:pPr>
            <a:r>
              <a:rPr lang="en-US" b="true" sz="1800">
                <a:solidFill>
                  <a:srgbClr val="000000"/>
                </a:solidFill>
                <a:latin typeface="Times New Roman Bold"/>
                <a:ea typeface="Times New Roman Bold"/>
                <a:cs typeface="Times New Roman Bold"/>
                <a:sym typeface="Times New Roman Bold"/>
              </a:rPr>
              <a:t>Key Performance Indicators (KPIs)</a:t>
            </a:r>
          </a:p>
          <a:p>
            <a:pPr algn="just" marL="388648" indent="-194324" lvl="1">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Total Respondents</a:t>
            </a:r>
          </a:p>
          <a:p>
            <a:pPr algn="just" marL="388648" indent="-194324" lvl="1">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Bank Account Holders</a:t>
            </a:r>
          </a:p>
          <a:p>
            <a:pPr algn="just" marL="388648" indent="-194324" lvl="1">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Financial Inclusion Rate</a:t>
            </a:r>
          </a:p>
          <a:p>
            <a:pPr algn="just" marL="388648" indent="-194324" lvl="1">
              <a:lnSpc>
                <a:spcPts val="2520"/>
              </a:lnSpc>
              <a:spcBef>
                <a:spcPct val="0"/>
              </a:spcBef>
              <a:buFont typeface="Arial"/>
              <a:buChar char="•"/>
            </a:pPr>
            <a:r>
              <a:rPr lang="en-US" sz="1800">
                <a:solidFill>
                  <a:srgbClr val="000000"/>
                </a:solidFill>
                <a:latin typeface="Times New Roman"/>
                <a:ea typeface="Times New Roman"/>
                <a:cs typeface="Times New Roman"/>
                <a:sym typeface="Times New Roman"/>
              </a:rPr>
              <a:t>Average Age of Respondents</a:t>
            </a:r>
          </a:p>
          <a:p>
            <a:pPr algn="ctr">
              <a:lnSpc>
                <a:spcPts val="1680"/>
              </a:lnSpc>
              <a:spcBef>
                <a:spcPct val="0"/>
              </a:spcBef>
            </a:pPr>
          </a:p>
          <a:p>
            <a:pPr algn="ctr">
              <a:lnSpc>
                <a:spcPts val="168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4E9"/>
        </a:solidFill>
      </p:bgPr>
    </p:bg>
    <p:spTree>
      <p:nvGrpSpPr>
        <p:cNvPr id="1" name=""/>
        <p:cNvGrpSpPr/>
        <p:nvPr/>
      </p:nvGrpSpPr>
      <p:grpSpPr>
        <a:xfrm>
          <a:off x="0" y="0"/>
          <a:ext cx="0" cy="0"/>
          <a:chOff x="0" y="0"/>
          <a:chExt cx="0" cy="0"/>
        </a:xfrm>
      </p:grpSpPr>
      <p:sp>
        <p:nvSpPr>
          <p:cNvPr name="Freeform 2" id="2"/>
          <p:cNvSpPr/>
          <p:nvPr/>
        </p:nvSpPr>
        <p:spPr>
          <a:xfrm flipH="false" flipV="false" rot="0">
            <a:off x="-251717" y="4921662"/>
            <a:ext cx="4889062" cy="2735838"/>
          </a:xfrm>
          <a:custGeom>
            <a:avLst/>
            <a:gdLst/>
            <a:ahLst/>
            <a:cxnLst/>
            <a:rect r="r" b="b" t="t" l="l"/>
            <a:pathLst>
              <a:path h="2735838" w="4889062">
                <a:moveTo>
                  <a:pt x="0" y="0"/>
                </a:moveTo>
                <a:lnTo>
                  <a:pt x="4889062" y="0"/>
                </a:lnTo>
                <a:lnTo>
                  <a:pt x="4889062" y="2735837"/>
                </a:lnTo>
                <a:lnTo>
                  <a:pt x="0" y="2735837"/>
                </a:lnTo>
                <a:lnTo>
                  <a:pt x="0" y="0"/>
                </a:lnTo>
                <a:close/>
              </a:path>
            </a:pathLst>
          </a:custGeom>
          <a:blipFill>
            <a:blip r:embed="rId2"/>
            <a:stretch>
              <a:fillRect l="0" t="0" r="0" b="0"/>
            </a:stretch>
          </a:blipFill>
        </p:spPr>
      </p:sp>
      <p:sp>
        <p:nvSpPr>
          <p:cNvPr name="Freeform 3" id="3"/>
          <p:cNvSpPr/>
          <p:nvPr/>
        </p:nvSpPr>
        <p:spPr>
          <a:xfrm flipH="true" flipV="true" rot="0">
            <a:off x="5421055" y="114901"/>
            <a:ext cx="4889062" cy="2735838"/>
          </a:xfrm>
          <a:custGeom>
            <a:avLst/>
            <a:gdLst/>
            <a:ahLst/>
            <a:cxnLst/>
            <a:rect r="r" b="b" t="t" l="l"/>
            <a:pathLst>
              <a:path h="2735838" w="4889062">
                <a:moveTo>
                  <a:pt x="4889062" y="2735837"/>
                </a:moveTo>
                <a:lnTo>
                  <a:pt x="0" y="2735837"/>
                </a:lnTo>
                <a:lnTo>
                  <a:pt x="0" y="0"/>
                </a:lnTo>
                <a:lnTo>
                  <a:pt x="4889062" y="0"/>
                </a:lnTo>
                <a:lnTo>
                  <a:pt x="4889062" y="2735837"/>
                </a:lnTo>
                <a:close/>
              </a:path>
            </a:pathLst>
          </a:custGeom>
          <a:blipFill>
            <a:blip r:embed="rId2"/>
            <a:stretch>
              <a:fillRect l="0" t="0" r="0" b="0"/>
            </a:stretch>
          </a:blipFill>
        </p:spPr>
      </p:sp>
      <p:sp>
        <p:nvSpPr>
          <p:cNvPr name="Freeform 4" id="4"/>
          <p:cNvSpPr/>
          <p:nvPr/>
        </p:nvSpPr>
        <p:spPr>
          <a:xfrm flipH="false" flipV="true" rot="0">
            <a:off x="-196541" y="170077"/>
            <a:ext cx="3467507" cy="3467507"/>
          </a:xfrm>
          <a:custGeom>
            <a:avLst/>
            <a:gdLst/>
            <a:ahLst/>
            <a:cxnLst/>
            <a:rect r="r" b="b" t="t" l="l"/>
            <a:pathLst>
              <a:path h="3467507" w="3467507">
                <a:moveTo>
                  <a:pt x="0" y="3467508"/>
                </a:moveTo>
                <a:lnTo>
                  <a:pt x="3467508" y="3467508"/>
                </a:lnTo>
                <a:lnTo>
                  <a:pt x="3467508" y="0"/>
                </a:lnTo>
                <a:lnTo>
                  <a:pt x="0" y="0"/>
                </a:lnTo>
                <a:lnTo>
                  <a:pt x="0" y="346750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6787433" y="4134815"/>
            <a:ext cx="3467507" cy="3467507"/>
          </a:xfrm>
          <a:custGeom>
            <a:avLst/>
            <a:gdLst/>
            <a:ahLst/>
            <a:cxnLst/>
            <a:rect r="r" b="b" t="t" l="l"/>
            <a:pathLst>
              <a:path h="3467507" w="3467507">
                <a:moveTo>
                  <a:pt x="3467508" y="0"/>
                </a:moveTo>
                <a:lnTo>
                  <a:pt x="0" y="0"/>
                </a:lnTo>
                <a:lnTo>
                  <a:pt x="0" y="3467508"/>
                </a:lnTo>
                <a:lnTo>
                  <a:pt x="3467508" y="3467508"/>
                </a:lnTo>
                <a:lnTo>
                  <a:pt x="346750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389697" y="1132218"/>
            <a:ext cx="8413082" cy="6309995"/>
          </a:xfrm>
          <a:prstGeom prst="rect">
            <a:avLst/>
          </a:prstGeom>
        </p:spPr>
        <p:txBody>
          <a:bodyPr anchor="t" rtlCol="false" tIns="0" lIns="0" bIns="0" rIns="0">
            <a:spAutoFit/>
          </a:bodyPr>
          <a:lstStyle/>
          <a:p>
            <a:pPr algn="ctr">
              <a:lnSpc>
                <a:spcPts val="3079"/>
              </a:lnSpc>
            </a:pPr>
            <a:r>
              <a:rPr lang="en-US" b="true" sz="2199" u="sng">
                <a:solidFill>
                  <a:srgbClr val="000000"/>
                </a:solidFill>
                <a:latin typeface="Times New Roman Bold"/>
                <a:ea typeface="Times New Roman Bold"/>
                <a:cs typeface="Times New Roman Bold"/>
                <a:sym typeface="Times New Roman Bold"/>
              </a:rPr>
              <a:t> Dashboard Overview</a:t>
            </a:r>
          </a:p>
          <a:p>
            <a:pPr algn="just">
              <a:lnSpc>
                <a:spcPts val="2799"/>
              </a:lnSpc>
              <a:spcBef>
                <a:spcPct val="0"/>
              </a:spcBef>
            </a:pPr>
            <a:r>
              <a:rPr lang="en-US" b="true" sz="1999" u="sng">
                <a:solidFill>
                  <a:srgbClr val="000000"/>
                </a:solidFill>
                <a:latin typeface="Times New Roman Bold"/>
                <a:ea typeface="Times New Roman Bold"/>
                <a:cs typeface="Times New Roman Bold"/>
                <a:sym typeface="Times New Roman Bold"/>
              </a:rPr>
              <a:t>Interactive Dashb</a:t>
            </a:r>
            <a:r>
              <a:rPr lang="en-US" b="true" sz="1999" u="sng">
                <a:solidFill>
                  <a:srgbClr val="000000"/>
                </a:solidFill>
                <a:latin typeface="Times New Roman Bold"/>
                <a:ea typeface="Times New Roman Bold"/>
                <a:cs typeface="Times New Roman Bold"/>
                <a:sym typeface="Times New Roman Bold"/>
              </a:rPr>
              <a:t>oard Features</a:t>
            </a:r>
          </a:p>
          <a:p>
            <a:pPr algn="just">
              <a:lnSpc>
                <a:spcPts val="2519"/>
              </a:lnSpc>
              <a:spcBef>
                <a:spcPct val="0"/>
              </a:spcBef>
            </a:pPr>
            <a:r>
              <a:rPr lang="en-US" sz="1799">
                <a:solidFill>
                  <a:srgbClr val="000000"/>
                </a:solidFill>
                <a:latin typeface="Times New Roman"/>
                <a:ea typeface="Times New Roman"/>
                <a:cs typeface="Times New Roman"/>
                <a:sym typeface="Times New Roman"/>
              </a:rPr>
              <a:t>The dashboard was designed to provide stakeholders with an interactive and visual understanding of financial inclusion trends.</a:t>
            </a:r>
          </a:p>
          <a:p>
            <a:pPr algn="just">
              <a:lnSpc>
                <a:spcPts val="2519"/>
              </a:lnSpc>
              <a:spcBef>
                <a:spcPct val="0"/>
              </a:spcBef>
            </a:pPr>
            <a:r>
              <a:rPr lang="en-US" b="true" sz="1799">
                <a:solidFill>
                  <a:srgbClr val="000000"/>
                </a:solidFill>
                <a:latin typeface="Times New Roman Bold"/>
                <a:ea typeface="Times New Roman Bold"/>
                <a:cs typeface="Times New Roman Bold"/>
                <a:sym typeface="Times New Roman Bold"/>
              </a:rPr>
              <a:t>Dashboard Components</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KPI Cards for summary statistics</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Bank Account Ownership Analysis</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Country-wise Financial Inclusion Analysis</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Urban vs Rural Comparison</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Gender-wise Analysis</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Education Level Analysis</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Age Group Distribution</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Interactive Slicers for filtering data</a:t>
            </a:r>
          </a:p>
          <a:p>
            <a:pPr algn="just">
              <a:lnSpc>
                <a:spcPts val="2519"/>
              </a:lnSpc>
              <a:spcBef>
                <a:spcPct val="0"/>
              </a:spcBef>
            </a:pPr>
            <a:r>
              <a:rPr lang="en-US" b="true" sz="1799">
                <a:solidFill>
                  <a:srgbClr val="000000"/>
                </a:solidFill>
                <a:latin typeface="Times New Roman Bold"/>
                <a:ea typeface="Times New Roman Bold"/>
                <a:cs typeface="Times New Roman Bold"/>
                <a:sym typeface="Times New Roman Bold"/>
              </a:rPr>
              <a:t>Filters Used</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Country</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Year</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Gender</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Location Type</a:t>
            </a:r>
          </a:p>
          <a:p>
            <a:pPr algn="just" marL="388617" indent="-194308" lvl="1">
              <a:lnSpc>
                <a:spcPts val="2519"/>
              </a:lnSpc>
              <a:spcBef>
                <a:spcPct val="0"/>
              </a:spcBef>
              <a:buFont typeface="Arial"/>
              <a:buChar char="•"/>
            </a:pPr>
            <a:r>
              <a:rPr lang="en-US" sz="1799">
                <a:solidFill>
                  <a:srgbClr val="000000"/>
                </a:solidFill>
                <a:latin typeface="Times New Roman"/>
                <a:ea typeface="Times New Roman"/>
                <a:cs typeface="Times New Roman"/>
                <a:sym typeface="Times New Roman"/>
              </a:rPr>
              <a:t>Education Level</a:t>
            </a:r>
          </a:p>
          <a:p>
            <a:pPr algn="just">
              <a:lnSpc>
                <a:spcPts val="1679"/>
              </a:lnSpc>
              <a:spcBef>
                <a:spcPct val="0"/>
              </a:spcBef>
            </a:pPr>
          </a:p>
        </p:txBody>
      </p:sp>
      <p:sp>
        <p:nvSpPr>
          <p:cNvPr name="Freeform 7" id="7"/>
          <p:cNvSpPr/>
          <p:nvPr/>
        </p:nvSpPr>
        <p:spPr>
          <a:xfrm flipH="false" flipV="false" rot="0">
            <a:off x="5731549" y="2968423"/>
            <a:ext cx="4326851" cy="4633900"/>
          </a:xfrm>
          <a:custGeom>
            <a:avLst/>
            <a:gdLst/>
            <a:ahLst/>
            <a:cxnLst/>
            <a:rect r="r" b="b" t="t" l="l"/>
            <a:pathLst>
              <a:path h="4633900" w="4326851">
                <a:moveTo>
                  <a:pt x="0" y="0"/>
                </a:moveTo>
                <a:lnTo>
                  <a:pt x="4326851" y="0"/>
                </a:lnTo>
                <a:lnTo>
                  <a:pt x="4326851" y="4633900"/>
                </a:lnTo>
                <a:lnTo>
                  <a:pt x="0" y="4633900"/>
                </a:lnTo>
                <a:lnTo>
                  <a:pt x="0" y="0"/>
                </a:lnTo>
                <a:close/>
              </a:path>
            </a:pathLst>
          </a:custGeom>
          <a:blipFill>
            <a:blip r:embed="rId5"/>
            <a:stretch>
              <a:fillRect l="0" t="-321"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EFE6"/>
        </a:solidFill>
      </p:bgPr>
    </p:bg>
    <p:spTree>
      <p:nvGrpSpPr>
        <p:cNvPr id="1" name=""/>
        <p:cNvGrpSpPr/>
        <p:nvPr/>
      </p:nvGrpSpPr>
      <p:grpSpPr>
        <a:xfrm>
          <a:off x="0" y="0"/>
          <a:ext cx="0" cy="0"/>
          <a:chOff x="0" y="0"/>
          <a:chExt cx="0" cy="0"/>
        </a:xfrm>
      </p:grpSpPr>
      <p:sp>
        <p:nvSpPr>
          <p:cNvPr name="Freeform 2" id="2"/>
          <p:cNvSpPr/>
          <p:nvPr/>
        </p:nvSpPr>
        <p:spPr>
          <a:xfrm flipH="false" flipV="false" rot="0">
            <a:off x="-348016" y="161462"/>
            <a:ext cx="4528452" cy="2695134"/>
          </a:xfrm>
          <a:custGeom>
            <a:avLst/>
            <a:gdLst/>
            <a:ahLst/>
            <a:cxnLst/>
            <a:rect r="r" b="b" t="t" l="l"/>
            <a:pathLst>
              <a:path h="2695134" w="4528452">
                <a:moveTo>
                  <a:pt x="0" y="0"/>
                </a:moveTo>
                <a:lnTo>
                  <a:pt x="4528452" y="0"/>
                </a:lnTo>
                <a:lnTo>
                  <a:pt x="4528452" y="2695134"/>
                </a:lnTo>
                <a:lnTo>
                  <a:pt x="0" y="2695134"/>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5770937" y="4994796"/>
            <a:ext cx="4528452" cy="2695134"/>
          </a:xfrm>
          <a:custGeom>
            <a:avLst/>
            <a:gdLst/>
            <a:ahLst/>
            <a:cxnLst/>
            <a:rect r="r" b="b" t="t" l="l"/>
            <a:pathLst>
              <a:path h="2695134" w="4528452">
                <a:moveTo>
                  <a:pt x="4528452" y="2695134"/>
                </a:moveTo>
                <a:lnTo>
                  <a:pt x="0" y="2695134"/>
                </a:lnTo>
                <a:lnTo>
                  <a:pt x="0" y="0"/>
                </a:lnTo>
                <a:lnTo>
                  <a:pt x="4528452" y="0"/>
                </a:lnTo>
                <a:lnTo>
                  <a:pt x="4528452" y="2695134"/>
                </a:lnTo>
                <a:close/>
              </a:path>
            </a:pathLst>
          </a:custGeom>
          <a:blipFill>
            <a:blip r:embed="rId2">
              <a:alphaModFix amt="37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44150" y="-751694"/>
            <a:ext cx="2760360" cy="2399004"/>
          </a:xfrm>
          <a:custGeom>
            <a:avLst/>
            <a:gdLst/>
            <a:ahLst/>
            <a:cxnLst/>
            <a:rect r="r" b="b" t="t" l="l"/>
            <a:pathLst>
              <a:path h="2399004" w="2760360">
                <a:moveTo>
                  <a:pt x="0" y="0"/>
                </a:moveTo>
                <a:lnTo>
                  <a:pt x="2760360" y="0"/>
                </a:lnTo>
                <a:lnTo>
                  <a:pt x="2760360" y="2399004"/>
                </a:lnTo>
                <a:lnTo>
                  <a:pt x="0" y="2399004"/>
                </a:lnTo>
                <a:lnTo>
                  <a:pt x="0" y="0"/>
                </a:lnTo>
                <a:close/>
              </a:path>
            </a:pathLst>
          </a:custGeom>
          <a:blipFill>
            <a:blip r:embed="rId4">
              <a:alphaModFix amt="38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8166362" y="6113364"/>
            <a:ext cx="2760360" cy="2399004"/>
          </a:xfrm>
          <a:custGeom>
            <a:avLst/>
            <a:gdLst/>
            <a:ahLst/>
            <a:cxnLst/>
            <a:rect r="r" b="b" t="t" l="l"/>
            <a:pathLst>
              <a:path h="2399004" w="2760360">
                <a:moveTo>
                  <a:pt x="2760360" y="2399004"/>
                </a:moveTo>
                <a:lnTo>
                  <a:pt x="0" y="2399004"/>
                </a:lnTo>
                <a:lnTo>
                  <a:pt x="0" y="0"/>
                </a:lnTo>
                <a:lnTo>
                  <a:pt x="2760360" y="0"/>
                </a:lnTo>
                <a:lnTo>
                  <a:pt x="2760360" y="239900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5350026" y="150070"/>
            <a:ext cx="4981507" cy="4981507"/>
          </a:xfrm>
          <a:custGeom>
            <a:avLst/>
            <a:gdLst/>
            <a:ahLst/>
            <a:cxnLst/>
            <a:rect r="r" b="b" t="t" l="l"/>
            <a:pathLst>
              <a:path h="4981507" w="4981507">
                <a:moveTo>
                  <a:pt x="4981507" y="4981507"/>
                </a:moveTo>
                <a:lnTo>
                  <a:pt x="0" y="4981507"/>
                </a:lnTo>
                <a:lnTo>
                  <a:pt x="0" y="0"/>
                </a:lnTo>
                <a:lnTo>
                  <a:pt x="4981507" y="0"/>
                </a:lnTo>
                <a:lnTo>
                  <a:pt x="4981507" y="4981507"/>
                </a:lnTo>
                <a:close/>
              </a:path>
            </a:pathLst>
          </a:custGeom>
          <a:blipFill>
            <a:blip r:embed="rId6">
              <a:alphaModFix amt="34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8208676">
            <a:off x="-1023199" y="-292086"/>
            <a:ext cx="2535040" cy="3011387"/>
          </a:xfrm>
          <a:custGeom>
            <a:avLst/>
            <a:gdLst/>
            <a:ahLst/>
            <a:cxnLst/>
            <a:rect r="r" b="b" t="t" l="l"/>
            <a:pathLst>
              <a:path h="3011387" w="2535040">
                <a:moveTo>
                  <a:pt x="0" y="0"/>
                </a:moveTo>
                <a:lnTo>
                  <a:pt x="2535040" y="0"/>
                </a:lnTo>
                <a:lnTo>
                  <a:pt x="2535040" y="3011387"/>
                </a:lnTo>
                <a:lnTo>
                  <a:pt x="0" y="3011387"/>
                </a:lnTo>
                <a:lnTo>
                  <a:pt x="0" y="0"/>
                </a:lnTo>
                <a:close/>
              </a:path>
            </a:pathLst>
          </a:custGeom>
          <a:blipFill>
            <a:blip r:embed="rId8">
              <a:alphaModFix amt="12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8208676">
            <a:off x="8279022" y="5454404"/>
            <a:ext cx="2535040" cy="3011387"/>
          </a:xfrm>
          <a:custGeom>
            <a:avLst/>
            <a:gdLst/>
            <a:ahLst/>
            <a:cxnLst/>
            <a:rect r="r" b="b" t="t" l="l"/>
            <a:pathLst>
              <a:path h="3011387" w="2535040">
                <a:moveTo>
                  <a:pt x="2535040" y="3011387"/>
                </a:moveTo>
                <a:lnTo>
                  <a:pt x="0" y="3011387"/>
                </a:lnTo>
                <a:lnTo>
                  <a:pt x="0" y="0"/>
                </a:lnTo>
                <a:lnTo>
                  <a:pt x="2535040" y="0"/>
                </a:lnTo>
                <a:lnTo>
                  <a:pt x="2535040" y="3011387"/>
                </a:lnTo>
                <a:close/>
              </a:path>
            </a:pathLst>
          </a:custGeom>
          <a:blipFill>
            <a:blip r:embed="rId8">
              <a:alphaModFix amt="43999"/>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273133" y="2640823"/>
            <a:ext cx="4981507" cy="4981507"/>
          </a:xfrm>
          <a:custGeom>
            <a:avLst/>
            <a:gdLst/>
            <a:ahLst/>
            <a:cxnLst/>
            <a:rect r="r" b="b" t="t" l="l"/>
            <a:pathLst>
              <a:path h="4981507" w="4981507">
                <a:moveTo>
                  <a:pt x="0" y="0"/>
                </a:moveTo>
                <a:lnTo>
                  <a:pt x="4981507" y="0"/>
                </a:lnTo>
                <a:lnTo>
                  <a:pt x="4981507" y="4981507"/>
                </a:lnTo>
                <a:lnTo>
                  <a:pt x="0" y="4981507"/>
                </a:lnTo>
                <a:lnTo>
                  <a:pt x="0" y="0"/>
                </a:lnTo>
                <a:close/>
              </a:path>
            </a:pathLst>
          </a:custGeom>
          <a:blipFill>
            <a:blip r:embed="rId6">
              <a:alphaModFix amt="41000"/>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615987" y="912717"/>
            <a:ext cx="8824912" cy="5755921"/>
          </a:xfrm>
          <a:prstGeom prst="rect">
            <a:avLst/>
          </a:prstGeom>
        </p:spPr>
        <p:txBody>
          <a:bodyPr anchor="t" rtlCol="false" tIns="0" lIns="0" bIns="0" rIns="0">
            <a:spAutoFit/>
          </a:bodyPr>
          <a:lstStyle/>
          <a:p>
            <a:pPr algn="ctr">
              <a:lnSpc>
                <a:spcPts val="3344"/>
              </a:lnSpc>
            </a:pPr>
            <a:r>
              <a:rPr lang="en-US" b="true" sz="2388" u="sng">
                <a:solidFill>
                  <a:srgbClr val="000000"/>
                </a:solidFill>
                <a:latin typeface="Times New Roman Bold"/>
                <a:ea typeface="Times New Roman Bold"/>
                <a:cs typeface="Times New Roman Bold"/>
                <a:sym typeface="Times New Roman Bold"/>
              </a:rPr>
              <a:t>Key Findings</a:t>
            </a:r>
          </a:p>
          <a:p>
            <a:pPr algn="l">
              <a:lnSpc>
                <a:spcPts val="2644"/>
              </a:lnSpc>
            </a:pPr>
            <a:r>
              <a:rPr lang="en-US" sz="1888" b="true">
                <a:solidFill>
                  <a:srgbClr val="000000"/>
                </a:solidFill>
                <a:latin typeface="Times New Roman Bold"/>
                <a:ea typeface="Times New Roman Bold"/>
                <a:cs typeface="Times New Roman Bold"/>
                <a:sym typeface="Times New Roman Bold"/>
              </a:rPr>
              <a:t>Major Insights from the Dashboard</a:t>
            </a:r>
          </a:p>
          <a:p>
            <a:pPr algn="l">
              <a:lnSpc>
                <a:spcPts val="2644"/>
              </a:lnSpc>
            </a:pPr>
            <a:r>
              <a:rPr lang="en-US" sz="1888">
                <a:solidFill>
                  <a:srgbClr val="000000"/>
                </a:solidFill>
                <a:latin typeface="Times New Roman"/>
                <a:ea typeface="Times New Roman"/>
                <a:cs typeface="Times New Roman"/>
                <a:sym typeface="Times New Roman"/>
              </a:rPr>
              <a:t>Financial Inclusion Status</a:t>
            </a:r>
          </a:p>
          <a:p>
            <a:pPr algn="l" marL="407819" indent="-203910" lvl="1">
              <a:lnSpc>
                <a:spcPts val="2644"/>
              </a:lnSpc>
              <a:buFont typeface="Arial"/>
              <a:buChar char="•"/>
            </a:pPr>
            <a:r>
              <a:rPr lang="en-US" sz="1888">
                <a:solidFill>
                  <a:srgbClr val="000000"/>
                </a:solidFill>
                <a:latin typeface="Times New Roman"/>
                <a:ea typeface="Times New Roman"/>
                <a:cs typeface="Times New Roman"/>
                <a:sym typeface="Times New Roman"/>
              </a:rPr>
              <a:t>Total Respondents: 23,524</a:t>
            </a:r>
          </a:p>
          <a:p>
            <a:pPr algn="l" marL="407819" indent="-203910" lvl="1">
              <a:lnSpc>
                <a:spcPts val="2644"/>
              </a:lnSpc>
              <a:buFont typeface="Arial"/>
              <a:buChar char="•"/>
            </a:pPr>
            <a:r>
              <a:rPr lang="en-US" sz="1888">
                <a:solidFill>
                  <a:srgbClr val="000000"/>
                </a:solidFill>
                <a:latin typeface="Times New Roman"/>
                <a:ea typeface="Times New Roman"/>
                <a:cs typeface="Times New Roman"/>
                <a:sym typeface="Times New Roman"/>
              </a:rPr>
              <a:t>Bank Account Holders: Approximately 3,309</a:t>
            </a:r>
          </a:p>
          <a:p>
            <a:pPr algn="l" marL="407819" indent="-203910" lvl="1">
              <a:lnSpc>
                <a:spcPts val="2644"/>
              </a:lnSpc>
              <a:buFont typeface="Arial"/>
              <a:buChar char="•"/>
            </a:pPr>
            <a:r>
              <a:rPr lang="en-US" sz="1888">
                <a:solidFill>
                  <a:srgbClr val="000000"/>
                </a:solidFill>
                <a:latin typeface="Times New Roman"/>
                <a:ea typeface="Times New Roman"/>
                <a:cs typeface="Times New Roman"/>
                <a:sym typeface="Times New Roman"/>
              </a:rPr>
              <a:t>Financial Inclusion Rate: 14.07%</a:t>
            </a:r>
          </a:p>
          <a:p>
            <a:pPr algn="l" marL="407819" indent="-203910" lvl="1">
              <a:lnSpc>
                <a:spcPts val="2644"/>
              </a:lnSpc>
              <a:spcBef>
                <a:spcPct val="0"/>
              </a:spcBef>
              <a:buFont typeface="Arial"/>
              <a:buChar char="•"/>
            </a:pPr>
            <a:r>
              <a:rPr lang="en-US" sz="1888">
                <a:solidFill>
                  <a:srgbClr val="000000"/>
                </a:solidFill>
                <a:latin typeface="Times New Roman"/>
                <a:ea typeface="Times New Roman"/>
                <a:cs typeface="Times New Roman"/>
                <a:sym typeface="Times New Roman"/>
              </a:rPr>
              <a:t>Average Age: 38.80 </a:t>
            </a:r>
            <a:r>
              <a:rPr lang="en-US" sz="1888">
                <a:solidFill>
                  <a:srgbClr val="000000"/>
                </a:solidFill>
                <a:latin typeface="Times New Roman"/>
                <a:ea typeface="Times New Roman"/>
                <a:cs typeface="Times New Roman"/>
                <a:sym typeface="Times New Roman"/>
              </a:rPr>
              <a:t>Years</a:t>
            </a:r>
          </a:p>
          <a:p>
            <a:pPr algn="l">
              <a:lnSpc>
                <a:spcPts val="2644"/>
              </a:lnSpc>
              <a:spcBef>
                <a:spcPct val="0"/>
              </a:spcBef>
            </a:pPr>
            <a:r>
              <a:rPr lang="en-US" b="true" sz="1888">
                <a:solidFill>
                  <a:srgbClr val="000000"/>
                </a:solidFill>
                <a:latin typeface="Times New Roman Bold"/>
                <a:ea typeface="Times New Roman Bold"/>
                <a:cs typeface="Times New Roman Bold"/>
                <a:sym typeface="Times New Roman Bold"/>
              </a:rPr>
              <a:t>Country Analysis</a:t>
            </a:r>
          </a:p>
          <a:p>
            <a:pPr algn="l" marL="407819" indent="-203910" lvl="1">
              <a:lnSpc>
                <a:spcPts val="2644"/>
              </a:lnSpc>
              <a:spcBef>
                <a:spcPct val="0"/>
              </a:spcBef>
              <a:buFont typeface="Arial"/>
              <a:buChar char="•"/>
            </a:pPr>
            <a:r>
              <a:rPr lang="en-US" sz="1888">
                <a:solidFill>
                  <a:srgbClr val="000000"/>
                </a:solidFill>
                <a:latin typeface="Times New Roman"/>
                <a:ea typeface="Times New Roman"/>
                <a:cs typeface="Times New Roman"/>
                <a:sym typeface="Times New Roman"/>
              </a:rPr>
              <a:t>Kenya shows the highest level of bank account ownership.</a:t>
            </a:r>
          </a:p>
          <a:p>
            <a:pPr algn="l" marL="407819" indent="-203910" lvl="1">
              <a:lnSpc>
                <a:spcPts val="2644"/>
              </a:lnSpc>
              <a:spcBef>
                <a:spcPct val="0"/>
              </a:spcBef>
              <a:buFont typeface="Arial"/>
              <a:buChar char="•"/>
            </a:pPr>
            <a:r>
              <a:rPr lang="en-US" sz="1888">
                <a:solidFill>
                  <a:srgbClr val="000000"/>
                </a:solidFill>
                <a:latin typeface="Times New Roman"/>
                <a:ea typeface="Times New Roman"/>
                <a:cs typeface="Times New Roman"/>
                <a:sym typeface="Times New Roman"/>
              </a:rPr>
              <a:t>Rwanda, Tanzania, and Uganda show comparatively lower levels of financial inclusion.</a:t>
            </a:r>
          </a:p>
          <a:p>
            <a:pPr algn="l" marL="407819" indent="-203910" lvl="1">
              <a:lnSpc>
                <a:spcPts val="2644"/>
              </a:lnSpc>
              <a:spcBef>
                <a:spcPct val="0"/>
              </a:spcBef>
              <a:buFont typeface="Arial"/>
              <a:buChar char="•"/>
            </a:pPr>
            <a:r>
              <a:rPr lang="en-US" sz="1888">
                <a:solidFill>
                  <a:srgbClr val="000000"/>
                </a:solidFill>
                <a:latin typeface="Times New Roman"/>
                <a:ea typeface="Times New Roman"/>
                <a:cs typeface="Times New Roman"/>
                <a:sym typeface="Times New Roman"/>
              </a:rPr>
              <a:t>Significant differences exist among countries in access to banking services.</a:t>
            </a:r>
          </a:p>
          <a:p>
            <a:pPr algn="l">
              <a:lnSpc>
                <a:spcPts val="2644"/>
              </a:lnSpc>
              <a:spcBef>
                <a:spcPct val="0"/>
              </a:spcBef>
            </a:pPr>
            <a:r>
              <a:rPr lang="en-US" b="true" sz="1888">
                <a:solidFill>
                  <a:srgbClr val="000000"/>
                </a:solidFill>
                <a:latin typeface="Times New Roman Bold"/>
                <a:ea typeface="Times New Roman Bold"/>
                <a:cs typeface="Times New Roman Bold"/>
                <a:sym typeface="Times New Roman Bold"/>
              </a:rPr>
              <a:t>Demographic Analysis</a:t>
            </a:r>
          </a:p>
          <a:p>
            <a:pPr algn="l" marL="407819" indent="-203910" lvl="1">
              <a:lnSpc>
                <a:spcPts val="2644"/>
              </a:lnSpc>
              <a:spcBef>
                <a:spcPct val="0"/>
              </a:spcBef>
              <a:buFont typeface="Arial"/>
              <a:buChar char="•"/>
            </a:pPr>
            <a:r>
              <a:rPr lang="en-US" sz="1888">
                <a:solidFill>
                  <a:srgbClr val="000000"/>
                </a:solidFill>
                <a:latin typeface="Times New Roman"/>
                <a:ea typeface="Times New Roman"/>
                <a:cs typeface="Times New Roman"/>
                <a:sym typeface="Times New Roman"/>
              </a:rPr>
              <a:t>Urban residents are more likely to own bank accounts than rural residents.</a:t>
            </a:r>
          </a:p>
          <a:p>
            <a:pPr algn="l" marL="407819" indent="-203910" lvl="1">
              <a:lnSpc>
                <a:spcPts val="2644"/>
              </a:lnSpc>
              <a:spcBef>
                <a:spcPct val="0"/>
              </a:spcBef>
              <a:buFont typeface="Arial"/>
              <a:buChar char="•"/>
            </a:pPr>
            <a:r>
              <a:rPr lang="en-US" sz="1888">
                <a:solidFill>
                  <a:srgbClr val="000000"/>
                </a:solidFill>
                <a:latin typeface="Times New Roman"/>
                <a:ea typeface="Times New Roman"/>
                <a:cs typeface="Times New Roman"/>
                <a:sym typeface="Times New Roman"/>
              </a:rPr>
              <a:t>Financial inclusion varies across different age groups.</a:t>
            </a:r>
          </a:p>
          <a:p>
            <a:pPr algn="l" marL="407819" indent="-203910" lvl="1">
              <a:lnSpc>
                <a:spcPts val="2644"/>
              </a:lnSpc>
              <a:spcBef>
                <a:spcPct val="0"/>
              </a:spcBef>
              <a:buFont typeface="Arial"/>
              <a:buChar char="•"/>
            </a:pPr>
            <a:r>
              <a:rPr lang="en-US" sz="1888">
                <a:solidFill>
                  <a:srgbClr val="000000"/>
                </a:solidFill>
                <a:latin typeface="Times New Roman"/>
                <a:ea typeface="Times New Roman"/>
                <a:cs typeface="Times New Roman"/>
                <a:sym typeface="Times New Roman"/>
              </a:rPr>
              <a:t>Educational attainment has a strong relationship with bank account ownership.</a:t>
            </a:r>
          </a:p>
          <a:p>
            <a:pPr algn="l">
              <a:lnSpc>
                <a:spcPts val="2644"/>
              </a:lnSpc>
              <a:spcBef>
                <a:spcPct val="0"/>
              </a:spcBef>
            </a:pPr>
          </a:p>
          <a:p>
            <a:pPr algn="l">
              <a:lnSpc>
                <a:spcPts val="2644"/>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EFE6"/>
        </a:solidFill>
      </p:bgPr>
    </p:bg>
    <p:spTree>
      <p:nvGrpSpPr>
        <p:cNvPr id="1" name=""/>
        <p:cNvGrpSpPr/>
        <p:nvPr/>
      </p:nvGrpSpPr>
      <p:grpSpPr>
        <a:xfrm>
          <a:off x="0" y="0"/>
          <a:ext cx="0" cy="0"/>
          <a:chOff x="0" y="0"/>
          <a:chExt cx="0" cy="0"/>
        </a:xfrm>
      </p:grpSpPr>
      <p:sp>
        <p:nvSpPr>
          <p:cNvPr name="Freeform 2" id="2"/>
          <p:cNvSpPr/>
          <p:nvPr/>
        </p:nvSpPr>
        <p:spPr>
          <a:xfrm flipH="false" flipV="false" rot="0">
            <a:off x="-348016" y="161462"/>
            <a:ext cx="4528452" cy="2695134"/>
          </a:xfrm>
          <a:custGeom>
            <a:avLst/>
            <a:gdLst/>
            <a:ahLst/>
            <a:cxnLst/>
            <a:rect r="r" b="b" t="t" l="l"/>
            <a:pathLst>
              <a:path h="2695134" w="4528452">
                <a:moveTo>
                  <a:pt x="0" y="0"/>
                </a:moveTo>
                <a:lnTo>
                  <a:pt x="4528452" y="0"/>
                </a:lnTo>
                <a:lnTo>
                  <a:pt x="4528452" y="2695134"/>
                </a:lnTo>
                <a:lnTo>
                  <a:pt x="0" y="2695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5770937" y="4994796"/>
            <a:ext cx="4528452" cy="2695134"/>
          </a:xfrm>
          <a:custGeom>
            <a:avLst/>
            <a:gdLst/>
            <a:ahLst/>
            <a:cxnLst/>
            <a:rect r="r" b="b" t="t" l="l"/>
            <a:pathLst>
              <a:path h="2695134" w="4528452">
                <a:moveTo>
                  <a:pt x="4528452" y="2695134"/>
                </a:moveTo>
                <a:lnTo>
                  <a:pt x="0" y="2695134"/>
                </a:lnTo>
                <a:lnTo>
                  <a:pt x="0" y="0"/>
                </a:lnTo>
                <a:lnTo>
                  <a:pt x="4528452" y="0"/>
                </a:lnTo>
                <a:lnTo>
                  <a:pt x="4528452" y="269513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44150" y="-751694"/>
            <a:ext cx="2760360" cy="2399004"/>
          </a:xfrm>
          <a:custGeom>
            <a:avLst/>
            <a:gdLst/>
            <a:ahLst/>
            <a:cxnLst/>
            <a:rect r="r" b="b" t="t" l="l"/>
            <a:pathLst>
              <a:path h="2399004" w="2760360">
                <a:moveTo>
                  <a:pt x="0" y="0"/>
                </a:moveTo>
                <a:lnTo>
                  <a:pt x="2760360" y="0"/>
                </a:lnTo>
                <a:lnTo>
                  <a:pt x="2760360" y="2399004"/>
                </a:lnTo>
                <a:lnTo>
                  <a:pt x="0" y="2399004"/>
                </a:lnTo>
                <a:lnTo>
                  <a:pt x="0" y="0"/>
                </a:lnTo>
                <a:close/>
              </a:path>
            </a:pathLst>
          </a:custGeom>
          <a:blipFill>
            <a:blip r:embed="rId4">
              <a:alphaModFix amt="36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8166362" y="6113364"/>
            <a:ext cx="2760360" cy="2399004"/>
          </a:xfrm>
          <a:custGeom>
            <a:avLst/>
            <a:gdLst/>
            <a:ahLst/>
            <a:cxnLst/>
            <a:rect r="r" b="b" t="t" l="l"/>
            <a:pathLst>
              <a:path h="2399004" w="2760360">
                <a:moveTo>
                  <a:pt x="2760360" y="2399004"/>
                </a:moveTo>
                <a:lnTo>
                  <a:pt x="0" y="2399004"/>
                </a:lnTo>
                <a:lnTo>
                  <a:pt x="0" y="0"/>
                </a:lnTo>
                <a:lnTo>
                  <a:pt x="2760360" y="0"/>
                </a:lnTo>
                <a:lnTo>
                  <a:pt x="2760360" y="239900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5350026" y="150070"/>
            <a:ext cx="4981507" cy="4981507"/>
          </a:xfrm>
          <a:custGeom>
            <a:avLst/>
            <a:gdLst/>
            <a:ahLst/>
            <a:cxnLst/>
            <a:rect r="r" b="b" t="t" l="l"/>
            <a:pathLst>
              <a:path h="4981507" w="4981507">
                <a:moveTo>
                  <a:pt x="4981507" y="4981507"/>
                </a:moveTo>
                <a:lnTo>
                  <a:pt x="0" y="4981507"/>
                </a:lnTo>
                <a:lnTo>
                  <a:pt x="0" y="0"/>
                </a:lnTo>
                <a:lnTo>
                  <a:pt x="4981507" y="0"/>
                </a:lnTo>
                <a:lnTo>
                  <a:pt x="4981507" y="4981507"/>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8208676">
            <a:off x="-490280" y="415205"/>
            <a:ext cx="2535040" cy="3011387"/>
          </a:xfrm>
          <a:custGeom>
            <a:avLst/>
            <a:gdLst/>
            <a:ahLst/>
            <a:cxnLst/>
            <a:rect r="r" b="b" t="t" l="l"/>
            <a:pathLst>
              <a:path h="3011387" w="2535040">
                <a:moveTo>
                  <a:pt x="0" y="0"/>
                </a:moveTo>
                <a:lnTo>
                  <a:pt x="2535040" y="0"/>
                </a:lnTo>
                <a:lnTo>
                  <a:pt x="2535040" y="3011387"/>
                </a:lnTo>
                <a:lnTo>
                  <a:pt x="0" y="3011387"/>
                </a:lnTo>
                <a:lnTo>
                  <a:pt x="0" y="0"/>
                </a:lnTo>
                <a:close/>
              </a:path>
            </a:pathLst>
          </a:custGeom>
          <a:blipFill>
            <a:blip r:embed="rId8">
              <a:alphaModFix amt="13000"/>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true" rot="8208676">
            <a:off x="8279022" y="5454404"/>
            <a:ext cx="2535040" cy="3011387"/>
          </a:xfrm>
          <a:custGeom>
            <a:avLst/>
            <a:gdLst/>
            <a:ahLst/>
            <a:cxnLst/>
            <a:rect r="r" b="b" t="t" l="l"/>
            <a:pathLst>
              <a:path h="3011387" w="2535040">
                <a:moveTo>
                  <a:pt x="2535040" y="3011387"/>
                </a:moveTo>
                <a:lnTo>
                  <a:pt x="0" y="3011387"/>
                </a:lnTo>
                <a:lnTo>
                  <a:pt x="0" y="0"/>
                </a:lnTo>
                <a:lnTo>
                  <a:pt x="2535040" y="0"/>
                </a:lnTo>
                <a:lnTo>
                  <a:pt x="2535040" y="3011387"/>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0" y="2331359"/>
            <a:ext cx="4981507" cy="4981507"/>
          </a:xfrm>
          <a:custGeom>
            <a:avLst/>
            <a:gdLst/>
            <a:ahLst/>
            <a:cxnLst/>
            <a:rect r="r" b="b" t="t" l="l"/>
            <a:pathLst>
              <a:path h="4981507" w="4981507">
                <a:moveTo>
                  <a:pt x="0" y="0"/>
                </a:moveTo>
                <a:lnTo>
                  <a:pt x="4981507" y="0"/>
                </a:lnTo>
                <a:lnTo>
                  <a:pt x="4981507" y="4981507"/>
                </a:lnTo>
                <a:lnTo>
                  <a:pt x="0" y="4981507"/>
                </a:lnTo>
                <a:lnTo>
                  <a:pt x="0" y="0"/>
                </a:lnTo>
                <a:close/>
              </a:path>
            </a:pathLst>
          </a:custGeom>
          <a:blipFill>
            <a:blip r:embed="rId6">
              <a:alphaModFix amt="28000"/>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216000" y="1123657"/>
            <a:ext cx="9842400" cy="5467936"/>
          </a:xfrm>
          <a:prstGeom prst="rect">
            <a:avLst/>
          </a:prstGeom>
        </p:spPr>
        <p:txBody>
          <a:bodyPr anchor="t" rtlCol="false" tIns="0" lIns="0" bIns="0" rIns="0">
            <a:spAutoFit/>
          </a:bodyPr>
          <a:lstStyle/>
          <a:p>
            <a:pPr algn="ctr">
              <a:lnSpc>
                <a:spcPts val="3327"/>
              </a:lnSpc>
              <a:spcBef>
                <a:spcPct val="0"/>
              </a:spcBef>
            </a:pPr>
            <a:r>
              <a:rPr lang="en-US" b="true" sz="2376">
                <a:solidFill>
                  <a:srgbClr val="000000"/>
                </a:solidFill>
                <a:latin typeface="Times New Roman Bold"/>
                <a:ea typeface="Times New Roman Bold"/>
                <a:cs typeface="Times New Roman Bold"/>
                <a:sym typeface="Times New Roman Bold"/>
              </a:rPr>
              <a:t>Business Insights and Recommendations</a:t>
            </a:r>
          </a:p>
          <a:p>
            <a:pPr algn="ctr">
              <a:lnSpc>
                <a:spcPts val="2767"/>
              </a:lnSpc>
              <a:spcBef>
                <a:spcPct val="0"/>
              </a:spcBef>
            </a:pPr>
            <a:r>
              <a:rPr lang="en-US" b="true" sz="1976">
                <a:solidFill>
                  <a:srgbClr val="000000"/>
                </a:solidFill>
                <a:latin typeface="Canva Sans Bold"/>
                <a:ea typeface="Canva Sans Bold"/>
                <a:cs typeface="Canva Sans Bold"/>
                <a:sym typeface="Canva Sans Bold"/>
              </a:rPr>
              <a:t>Business Insights</a:t>
            </a:r>
          </a:p>
          <a:p>
            <a:pPr algn="l" marL="448406" indent="-224203" lvl="1">
              <a:lnSpc>
                <a:spcPts val="2907"/>
              </a:lnSpc>
              <a:spcBef>
                <a:spcPct val="0"/>
              </a:spcBef>
              <a:buAutoNum type="arabicPeriod" startAt="1"/>
            </a:pPr>
            <a:r>
              <a:rPr lang="en-US" sz="2076">
                <a:solidFill>
                  <a:srgbClr val="000000"/>
                </a:solidFill>
                <a:latin typeface="Times New Roman"/>
                <a:ea typeface="Times New Roman"/>
                <a:cs typeface="Times New Roman"/>
                <a:sym typeface="Times New Roman"/>
              </a:rPr>
              <a:t>Financial inclusion remains relatively low across the surveyed population.</a:t>
            </a:r>
          </a:p>
          <a:p>
            <a:pPr algn="l" marL="448406" indent="-224203" lvl="1">
              <a:lnSpc>
                <a:spcPts val="2907"/>
              </a:lnSpc>
              <a:spcBef>
                <a:spcPct val="0"/>
              </a:spcBef>
              <a:buAutoNum type="arabicPeriod" startAt="1"/>
            </a:pPr>
            <a:r>
              <a:rPr lang="en-US" sz="2076">
                <a:solidFill>
                  <a:srgbClr val="000000"/>
                </a:solidFill>
                <a:latin typeface="Times New Roman"/>
                <a:ea typeface="Times New Roman"/>
                <a:cs typeface="Times New Roman"/>
                <a:sym typeface="Times New Roman"/>
              </a:rPr>
              <a:t>Rural populations face greater barriers to accessing banking services.</a:t>
            </a:r>
          </a:p>
          <a:p>
            <a:pPr algn="l" marL="448406" indent="-224203" lvl="1">
              <a:lnSpc>
                <a:spcPts val="2907"/>
              </a:lnSpc>
              <a:spcBef>
                <a:spcPct val="0"/>
              </a:spcBef>
              <a:buAutoNum type="arabicPeriod" startAt="1"/>
            </a:pPr>
            <a:r>
              <a:rPr lang="en-US" sz="2076">
                <a:solidFill>
                  <a:srgbClr val="000000"/>
                </a:solidFill>
                <a:latin typeface="Times New Roman"/>
                <a:ea typeface="Times New Roman"/>
                <a:cs typeface="Times New Roman"/>
                <a:sym typeface="Times New Roman"/>
              </a:rPr>
              <a:t>Higher educational levels are associated with higher rates of bank account ownership.</a:t>
            </a:r>
          </a:p>
          <a:p>
            <a:pPr algn="l" marL="448406" indent="-224203" lvl="1">
              <a:lnSpc>
                <a:spcPts val="2907"/>
              </a:lnSpc>
              <a:spcBef>
                <a:spcPct val="0"/>
              </a:spcBef>
              <a:buAutoNum type="arabicPeriod" startAt="1"/>
            </a:pPr>
            <a:r>
              <a:rPr lang="en-US" sz="2076">
                <a:solidFill>
                  <a:srgbClr val="000000"/>
                </a:solidFill>
                <a:latin typeface="Times New Roman"/>
                <a:ea typeface="Times New Roman"/>
                <a:cs typeface="Times New Roman"/>
                <a:sym typeface="Times New Roman"/>
              </a:rPr>
              <a:t>Young adults and low-income populations represent potential growth segments for financial institutions.</a:t>
            </a:r>
          </a:p>
          <a:p>
            <a:pPr algn="l">
              <a:lnSpc>
                <a:spcPts val="2907"/>
              </a:lnSpc>
              <a:spcBef>
                <a:spcPct val="0"/>
              </a:spcBef>
            </a:pPr>
            <a:r>
              <a:rPr lang="en-US" b="true" sz="2076">
                <a:solidFill>
                  <a:srgbClr val="000000"/>
                </a:solidFill>
                <a:latin typeface="Times New Roman Bold"/>
                <a:ea typeface="Times New Roman Bold"/>
                <a:cs typeface="Times New Roman Bold"/>
                <a:sym typeface="Times New Roman Bold"/>
              </a:rPr>
              <a:t>Recommendations</a:t>
            </a:r>
          </a:p>
          <a:p>
            <a:pPr algn="l" marL="448406" indent="-224203" lvl="1">
              <a:lnSpc>
                <a:spcPts val="2907"/>
              </a:lnSpc>
              <a:spcBef>
                <a:spcPct val="0"/>
              </a:spcBef>
              <a:buFont typeface="Arial"/>
              <a:buChar char="•"/>
            </a:pPr>
            <a:r>
              <a:rPr lang="en-US" sz="2076">
                <a:solidFill>
                  <a:srgbClr val="000000"/>
                </a:solidFill>
                <a:latin typeface="Times New Roman"/>
                <a:ea typeface="Times New Roman"/>
                <a:cs typeface="Times New Roman"/>
                <a:sym typeface="Times New Roman"/>
              </a:rPr>
              <a:t>Expand banking infrastructure in rural regions.</a:t>
            </a:r>
          </a:p>
          <a:p>
            <a:pPr algn="l" marL="448406" indent="-224203" lvl="1">
              <a:lnSpc>
                <a:spcPts val="2907"/>
              </a:lnSpc>
              <a:spcBef>
                <a:spcPct val="0"/>
              </a:spcBef>
              <a:buFont typeface="Arial"/>
              <a:buChar char="•"/>
            </a:pPr>
            <a:r>
              <a:rPr lang="en-US" sz="2076">
                <a:solidFill>
                  <a:srgbClr val="000000"/>
                </a:solidFill>
                <a:latin typeface="Times New Roman"/>
                <a:ea typeface="Times New Roman"/>
                <a:cs typeface="Times New Roman"/>
                <a:sym typeface="Times New Roman"/>
              </a:rPr>
              <a:t>Promote financial literacy and awareness programs.</a:t>
            </a:r>
          </a:p>
          <a:p>
            <a:pPr algn="l" marL="448406" indent="-224203" lvl="1">
              <a:lnSpc>
                <a:spcPts val="2907"/>
              </a:lnSpc>
              <a:spcBef>
                <a:spcPct val="0"/>
              </a:spcBef>
              <a:buFont typeface="Arial"/>
              <a:buChar char="•"/>
            </a:pPr>
            <a:r>
              <a:rPr lang="en-US" sz="2076">
                <a:solidFill>
                  <a:srgbClr val="000000"/>
                </a:solidFill>
                <a:latin typeface="Times New Roman"/>
                <a:ea typeface="Times New Roman"/>
                <a:cs typeface="Times New Roman"/>
                <a:sym typeface="Times New Roman"/>
              </a:rPr>
              <a:t>Develop digital banking solutions for underserved populations.</a:t>
            </a:r>
          </a:p>
          <a:p>
            <a:pPr algn="l" marL="448406" indent="-224203" lvl="1">
              <a:lnSpc>
                <a:spcPts val="2907"/>
              </a:lnSpc>
              <a:spcBef>
                <a:spcPct val="0"/>
              </a:spcBef>
              <a:buFont typeface="Arial"/>
              <a:buChar char="•"/>
            </a:pPr>
            <a:r>
              <a:rPr lang="en-US" sz="2076">
                <a:solidFill>
                  <a:srgbClr val="000000"/>
                </a:solidFill>
                <a:latin typeface="Times New Roman"/>
                <a:ea typeface="Times New Roman"/>
                <a:cs typeface="Times New Roman"/>
                <a:sym typeface="Times New Roman"/>
              </a:rPr>
              <a:t>Create targeted financial products for youth and low-income groups.</a:t>
            </a:r>
          </a:p>
          <a:p>
            <a:pPr algn="l" marL="448406" indent="-224203" lvl="1">
              <a:lnSpc>
                <a:spcPts val="2907"/>
              </a:lnSpc>
              <a:spcBef>
                <a:spcPct val="0"/>
              </a:spcBef>
              <a:buFont typeface="Arial"/>
              <a:buChar char="•"/>
            </a:pPr>
            <a:r>
              <a:rPr lang="en-US" sz="2076">
                <a:solidFill>
                  <a:srgbClr val="000000"/>
                </a:solidFill>
                <a:latin typeface="Times New Roman"/>
                <a:ea typeface="Times New Roman"/>
                <a:cs typeface="Times New Roman"/>
                <a:sym typeface="Times New Roman"/>
              </a:rPr>
              <a:t>Strengthen partnerships between governments and financial institutions to improve financial accessibility.</a:t>
            </a:r>
          </a:p>
          <a:p>
            <a:pPr algn="l">
              <a:lnSpc>
                <a:spcPts val="2907"/>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4E9"/>
        </a:solidFill>
      </p:bgPr>
    </p:bg>
    <p:spTree>
      <p:nvGrpSpPr>
        <p:cNvPr id="1" name=""/>
        <p:cNvGrpSpPr/>
        <p:nvPr/>
      </p:nvGrpSpPr>
      <p:grpSpPr>
        <a:xfrm>
          <a:off x="0" y="0"/>
          <a:ext cx="0" cy="0"/>
          <a:chOff x="0" y="0"/>
          <a:chExt cx="0" cy="0"/>
        </a:xfrm>
      </p:grpSpPr>
      <p:sp>
        <p:nvSpPr>
          <p:cNvPr name="Freeform 2" id="2"/>
          <p:cNvSpPr/>
          <p:nvPr/>
        </p:nvSpPr>
        <p:spPr>
          <a:xfrm flipH="false" flipV="false" rot="0">
            <a:off x="-251717" y="4921662"/>
            <a:ext cx="4889062" cy="2735838"/>
          </a:xfrm>
          <a:custGeom>
            <a:avLst/>
            <a:gdLst/>
            <a:ahLst/>
            <a:cxnLst/>
            <a:rect r="r" b="b" t="t" l="l"/>
            <a:pathLst>
              <a:path h="2735838" w="4889062">
                <a:moveTo>
                  <a:pt x="0" y="0"/>
                </a:moveTo>
                <a:lnTo>
                  <a:pt x="4889062" y="0"/>
                </a:lnTo>
                <a:lnTo>
                  <a:pt x="4889062" y="2735837"/>
                </a:lnTo>
                <a:lnTo>
                  <a:pt x="0" y="2735837"/>
                </a:lnTo>
                <a:lnTo>
                  <a:pt x="0" y="0"/>
                </a:lnTo>
                <a:close/>
              </a:path>
            </a:pathLst>
          </a:custGeom>
          <a:blipFill>
            <a:blip r:embed="rId2"/>
            <a:stretch>
              <a:fillRect l="0" t="0" r="0" b="0"/>
            </a:stretch>
          </a:blipFill>
        </p:spPr>
      </p:sp>
      <p:sp>
        <p:nvSpPr>
          <p:cNvPr name="Freeform 3" id="3"/>
          <p:cNvSpPr/>
          <p:nvPr/>
        </p:nvSpPr>
        <p:spPr>
          <a:xfrm flipH="true" flipV="true" rot="0">
            <a:off x="5421055" y="114901"/>
            <a:ext cx="4889062" cy="2735838"/>
          </a:xfrm>
          <a:custGeom>
            <a:avLst/>
            <a:gdLst/>
            <a:ahLst/>
            <a:cxnLst/>
            <a:rect r="r" b="b" t="t" l="l"/>
            <a:pathLst>
              <a:path h="2735838" w="4889062">
                <a:moveTo>
                  <a:pt x="4889062" y="2735837"/>
                </a:moveTo>
                <a:lnTo>
                  <a:pt x="0" y="2735837"/>
                </a:lnTo>
                <a:lnTo>
                  <a:pt x="0" y="0"/>
                </a:lnTo>
                <a:lnTo>
                  <a:pt x="4889062" y="0"/>
                </a:lnTo>
                <a:lnTo>
                  <a:pt x="4889062" y="2735837"/>
                </a:lnTo>
                <a:close/>
              </a:path>
            </a:pathLst>
          </a:custGeom>
          <a:blipFill>
            <a:blip r:embed="rId2"/>
            <a:stretch>
              <a:fillRect l="0" t="0" r="0" b="0"/>
            </a:stretch>
          </a:blipFill>
        </p:spPr>
      </p:sp>
      <p:sp>
        <p:nvSpPr>
          <p:cNvPr name="Freeform 4" id="4"/>
          <p:cNvSpPr/>
          <p:nvPr/>
        </p:nvSpPr>
        <p:spPr>
          <a:xfrm flipH="false" flipV="true" rot="0">
            <a:off x="-123548" y="114901"/>
            <a:ext cx="3467507" cy="3467507"/>
          </a:xfrm>
          <a:custGeom>
            <a:avLst/>
            <a:gdLst/>
            <a:ahLst/>
            <a:cxnLst/>
            <a:rect r="r" b="b" t="t" l="l"/>
            <a:pathLst>
              <a:path h="3467507" w="3467507">
                <a:moveTo>
                  <a:pt x="0" y="3467507"/>
                </a:moveTo>
                <a:lnTo>
                  <a:pt x="3467507" y="3467507"/>
                </a:lnTo>
                <a:lnTo>
                  <a:pt x="3467507" y="0"/>
                </a:lnTo>
                <a:lnTo>
                  <a:pt x="0" y="0"/>
                </a:lnTo>
                <a:lnTo>
                  <a:pt x="0" y="3467507"/>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6787433" y="4134815"/>
            <a:ext cx="3467507" cy="3467507"/>
          </a:xfrm>
          <a:custGeom>
            <a:avLst/>
            <a:gdLst/>
            <a:ahLst/>
            <a:cxnLst/>
            <a:rect r="r" b="b" t="t" l="l"/>
            <a:pathLst>
              <a:path h="3467507" w="3467507">
                <a:moveTo>
                  <a:pt x="3467508" y="0"/>
                </a:moveTo>
                <a:lnTo>
                  <a:pt x="0" y="0"/>
                </a:lnTo>
                <a:lnTo>
                  <a:pt x="0" y="3467508"/>
                </a:lnTo>
                <a:lnTo>
                  <a:pt x="3467508" y="3467508"/>
                </a:lnTo>
                <a:lnTo>
                  <a:pt x="346750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53939" y="2695611"/>
            <a:ext cx="9750522" cy="3172958"/>
          </a:xfrm>
          <a:prstGeom prst="rect">
            <a:avLst/>
          </a:prstGeom>
        </p:spPr>
        <p:txBody>
          <a:bodyPr anchor="t" rtlCol="false" tIns="0" lIns="0" bIns="0" rIns="0">
            <a:spAutoFit/>
          </a:bodyPr>
          <a:lstStyle/>
          <a:p>
            <a:pPr algn="ctr">
              <a:lnSpc>
                <a:spcPts val="3547"/>
              </a:lnSpc>
              <a:spcBef>
                <a:spcPct val="0"/>
              </a:spcBef>
            </a:pPr>
            <a:r>
              <a:rPr lang="en-US" b="true" sz="2534" u="sng">
                <a:solidFill>
                  <a:srgbClr val="000000"/>
                </a:solidFill>
                <a:latin typeface="Times New Roman Bold"/>
                <a:ea typeface="Times New Roman Bold"/>
                <a:cs typeface="Times New Roman Bold"/>
                <a:sym typeface="Times New Roman Bold"/>
              </a:rPr>
              <a:t>Conclusion</a:t>
            </a:r>
          </a:p>
          <a:p>
            <a:pPr algn="ctr">
              <a:lnSpc>
                <a:spcPts val="2627"/>
              </a:lnSpc>
              <a:spcBef>
                <a:spcPct val="0"/>
              </a:spcBef>
            </a:pPr>
            <a:r>
              <a:rPr lang="en-US" sz="1877">
                <a:solidFill>
                  <a:srgbClr val="000000"/>
                </a:solidFill>
                <a:latin typeface="Times New Roman"/>
                <a:ea typeface="Times New Roman"/>
                <a:cs typeface="Times New Roman"/>
                <a:sym typeface="Times New Roman"/>
              </a:rPr>
              <a:t>This dashboard successfully demonstrates how data visualization can be used to understand financial inclusion patterns and support informed decision-making.</a:t>
            </a:r>
          </a:p>
          <a:p>
            <a:pPr algn="ctr">
              <a:lnSpc>
                <a:spcPts val="2627"/>
              </a:lnSpc>
              <a:spcBef>
                <a:spcPct val="0"/>
              </a:spcBef>
            </a:pPr>
            <a:r>
              <a:rPr lang="en-US" sz="1877">
                <a:solidFill>
                  <a:srgbClr val="000000"/>
                </a:solidFill>
                <a:latin typeface="Times New Roman"/>
                <a:ea typeface="Times New Roman"/>
                <a:cs typeface="Times New Roman"/>
                <a:sym typeface="Times New Roman"/>
              </a:rPr>
              <a:t>The analysis reveals that bank account ownership is influenced by factors such as country, education level, location, and age. The insights generated from the dashboard can help policymakers, banks, and financial organizations develop strategies to improve financial inclusion and expand access to formal banking services.</a:t>
            </a:r>
          </a:p>
          <a:p>
            <a:pPr algn="ctr">
              <a:lnSpc>
                <a:spcPts val="2627"/>
              </a:lnSpc>
              <a:spcBef>
                <a:spcPct val="0"/>
              </a:spcBef>
            </a:pPr>
            <a:r>
              <a:rPr lang="en-US" b="true" sz="1877">
                <a:solidFill>
                  <a:srgbClr val="000000"/>
                </a:solidFill>
                <a:latin typeface="Times New Roman Bold"/>
                <a:ea typeface="Times New Roman Bold"/>
                <a:cs typeface="Times New Roman Bold"/>
                <a:sym typeface="Times New Roman Bold"/>
              </a:rPr>
              <a:t>Thank You</a:t>
            </a:r>
          </a:p>
          <a:p>
            <a:pPr algn="ctr">
              <a:lnSpc>
                <a:spcPts val="3153"/>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DAHNANoaITU</dc:identifier>
  <dcterms:modified xsi:type="dcterms:W3CDTF">2011-08-01T06:04:30Z</dcterms:modified>
  <cp:revision>1</cp:revision>
  <dc:title>Your paragraph text</dc:title>
</cp:coreProperties>
</file>